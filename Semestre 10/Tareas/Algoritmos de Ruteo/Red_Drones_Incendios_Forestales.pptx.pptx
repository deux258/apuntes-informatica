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" charset="1" panose="020F0502020204030204"/>
      <p:regular r:id="rId22"/>
    </p:embeddedFont>
    <p:embeddedFont>
      <p:font typeface="Garet Bold" charset="1" panose="00000000000000000000"/>
      <p:regular r:id="rId23"/>
    </p:embeddedFont>
    <p:embeddedFont>
      <p:font typeface="Cambria Bold" charset="1" panose="02040803050406030204"/>
      <p:regular r:id="rId25"/>
    </p:embeddedFont>
    <p:embeddedFont>
      <p:font typeface="Calibri (MS) Bold" charset="1" panose="020F0702030404030204"/>
      <p:regular r:id="rId26"/>
    </p:embeddedFont>
    <p:embeddedFont>
      <p:font typeface="Cambria" charset="1" panose="02040503050406030204"/>
      <p:regular r:id="rId27"/>
    </p:embeddedFont>
    <p:embeddedFont>
      <p:font typeface="Cambria Italics" charset="1" panose="020405030504060A0204"/>
      <p:regular r:id="rId30"/>
    </p:embeddedFont>
    <p:embeddedFont>
      <p:font typeface="Calibri (MS) Italics" charset="1" panose="020F05020202040A0204"/>
      <p:regular r:id="rId34"/>
    </p:embeddedFont>
    <p:embeddedFont>
      <p:font typeface="Cambria Bold Italics" charset="1" panose="020408030504060A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40560" y="6920566"/>
            <a:ext cx="8229600" cy="605131"/>
            <a:chOff x="0" y="0"/>
            <a:chExt cx="10972800" cy="8068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806841"/>
            </a:xfrm>
            <a:custGeom>
              <a:avLst/>
              <a:gdLst/>
              <a:ahLst/>
              <a:cxnLst/>
              <a:rect r="r" b="b" t="t" l="l"/>
              <a:pathLst>
                <a:path h="80684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06841"/>
                  </a:lnTo>
                  <a:lnTo>
                    <a:pt x="0" y="806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324" r="0" b="-2046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0972800" cy="873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FE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Profesor: Nicolás Boettcher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55440" y="7460147"/>
            <a:ext cx="13716000" cy="605131"/>
            <a:chOff x="0" y="0"/>
            <a:chExt cx="18288000" cy="8068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806841"/>
            </a:xfrm>
            <a:custGeom>
              <a:avLst/>
              <a:gdLst/>
              <a:ahLst/>
              <a:cxnLst/>
              <a:rect r="r" b="b" t="t" l="l"/>
              <a:pathLst>
                <a:path h="806841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06841"/>
                  </a:lnTo>
                  <a:lnTo>
                    <a:pt x="0" y="806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985" r="0" b="-38131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288000" cy="873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FE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Diego Muñoz · Ignacio Pastén · Eduardo Escalona · Diego Hidalgo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6560" y="511518"/>
            <a:ext cx="4985496" cy="9775482"/>
          </a:xfrm>
          <a:custGeom>
            <a:avLst/>
            <a:gdLst/>
            <a:ahLst/>
            <a:cxnLst/>
            <a:rect r="r" b="b" t="t" l="l"/>
            <a:pathLst>
              <a:path h="9775482" w="4985496">
                <a:moveTo>
                  <a:pt x="0" y="0"/>
                </a:moveTo>
                <a:lnTo>
                  <a:pt x="4985496" y="0"/>
                </a:lnTo>
                <a:lnTo>
                  <a:pt x="4985496" y="9775482"/>
                </a:lnTo>
                <a:lnTo>
                  <a:pt x="0" y="9775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61227" y="3119997"/>
            <a:ext cx="14565545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8000">
                <a:solidFill>
                  <a:srgbClr val="2B3244"/>
                </a:solidFill>
                <a:latin typeface="Garet Bold"/>
                <a:ea typeface="Garet Bold"/>
                <a:cs typeface="Garet Bold"/>
                <a:sym typeface="Garet Bold"/>
              </a:rPr>
              <a:t>RED DE DRONES PARA DETECCIÓN Y VIGILANCIA DE INCENDIOS FORESTALES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751378" y="323880"/>
            <a:ext cx="4224134" cy="813146"/>
          </a:xfrm>
          <a:custGeom>
            <a:avLst/>
            <a:gdLst/>
            <a:ahLst/>
            <a:cxnLst/>
            <a:rect r="r" b="b" t="t" l="l"/>
            <a:pathLst>
              <a:path h="813146" w="4224134">
                <a:moveTo>
                  <a:pt x="0" y="0"/>
                </a:moveTo>
                <a:lnTo>
                  <a:pt x="4224134" y="0"/>
                </a:lnTo>
                <a:lnTo>
                  <a:pt x="4224134" y="813146"/>
                </a:lnTo>
                <a:lnTo>
                  <a:pt x="0" y="813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191873"/>
            <a:ext cx="16774668" cy="3210706"/>
            <a:chOff x="0" y="0"/>
            <a:chExt cx="22366224" cy="4280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66224" cy="4280942"/>
            </a:xfrm>
            <a:custGeom>
              <a:avLst/>
              <a:gdLst/>
              <a:ahLst/>
              <a:cxnLst/>
              <a:rect r="r" b="b" t="t" l="l"/>
              <a:pathLst>
                <a:path h="4280942" w="22366224">
                  <a:moveTo>
                    <a:pt x="0" y="146775"/>
                  </a:moveTo>
                  <a:cubicBezTo>
                    <a:pt x="0" y="65743"/>
                    <a:pt x="261344" y="0"/>
                    <a:pt x="583467" y="0"/>
                  </a:cubicBezTo>
                  <a:lnTo>
                    <a:pt x="21782757" y="0"/>
                  </a:lnTo>
                  <a:cubicBezTo>
                    <a:pt x="22104879" y="0"/>
                    <a:pt x="22366224" y="65743"/>
                    <a:pt x="22366224" y="146775"/>
                  </a:cubicBezTo>
                  <a:lnTo>
                    <a:pt x="22366224" y="4134167"/>
                  </a:lnTo>
                  <a:cubicBezTo>
                    <a:pt x="22366224" y="4215199"/>
                    <a:pt x="22104879" y="4280942"/>
                    <a:pt x="21782757" y="4280942"/>
                  </a:cubicBezTo>
                  <a:lnTo>
                    <a:pt x="583467" y="4280942"/>
                  </a:lnTo>
                  <a:cubicBezTo>
                    <a:pt x="261344" y="4280942"/>
                    <a:pt x="0" y="4215199"/>
                    <a:pt x="0" y="4134167"/>
                  </a:cubicBezTo>
                  <a:close/>
                </a:path>
              </a:pathLst>
            </a:custGeom>
            <a:solidFill>
              <a:srgbClr val="1B3A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7008" y="548640"/>
            <a:ext cx="14401800" cy="2965548"/>
            <a:chOff x="0" y="0"/>
            <a:chExt cx="19202400" cy="3954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3954064"/>
            </a:xfrm>
            <a:custGeom>
              <a:avLst/>
              <a:gdLst/>
              <a:ahLst/>
              <a:cxnLst/>
              <a:rect r="r" b="b" t="t" l="l"/>
              <a:pathLst>
                <a:path h="3954064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3954064"/>
                  </a:lnTo>
                  <a:lnTo>
                    <a:pt x="0" y="3954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00" r="0" b="-177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9202400" cy="3963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Chile, uno de los países más expuestos a incendios forestales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0842" y="2063855"/>
            <a:ext cx="15590021" cy="2338725"/>
            <a:chOff x="0" y="0"/>
            <a:chExt cx="20786694" cy="3118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86694" cy="3118300"/>
            </a:xfrm>
            <a:custGeom>
              <a:avLst/>
              <a:gdLst/>
              <a:ahLst/>
              <a:cxnLst/>
              <a:rect r="r" b="b" t="t" l="l"/>
              <a:pathLst>
                <a:path h="3118300" w="20786694">
                  <a:moveTo>
                    <a:pt x="0" y="0"/>
                  </a:moveTo>
                  <a:lnTo>
                    <a:pt x="20786694" y="0"/>
                  </a:lnTo>
                  <a:lnTo>
                    <a:pt x="20786694" y="3118300"/>
                  </a:lnTo>
                  <a:lnTo>
                    <a:pt x="0" y="311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60" t="0" r="60707" b="-172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42875"/>
              <a:ext cx="20786694" cy="326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6"/>
                </a:lnSpc>
              </a:pPr>
              <a:r>
                <a:rPr lang="en-US" sz="2600" b="true">
                  <a:solidFill>
                    <a:srgbClr val="D8E5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tiempo entre el inicio de un foco y su detección aumenta de forma no lineal la superficie afectada y el riesgo para la vida humana.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de Drones para Detección y Vigilancia de Incendios Forestales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548640"/>
            <a:ext cx="12344400" cy="480060"/>
            <a:chOff x="0" y="0"/>
            <a:chExt cx="1645920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CONTEXTO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4929253"/>
            <a:ext cx="12344400" cy="480060"/>
            <a:chOff x="0" y="0"/>
            <a:chExt cx="164592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TRABAJO RELACIONADO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53982" y="3686475"/>
            <a:ext cx="10007544" cy="2965614"/>
            <a:chOff x="0" y="0"/>
            <a:chExt cx="13343392" cy="39541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343392" cy="3954152"/>
            </a:xfrm>
            <a:custGeom>
              <a:avLst/>
              <a:gdLst/>
              <a:ahLst/>
              <a:cxnLst/>
              <a:rect r="r" b="b" t="t" l="l"/>
              <a:pathLst>
                <a:path h="3954152" w="13343392">
                  <a:moveTo>
                    <a:pt x="0" y="0"/>
                  </a:moveTo>
                  <a:lnTo>
                    <a:pt x="13343392" y="0"/>
                  </a:lnTo>
                  <a:lnTo>
                    <a:pt x="13343392" y="3954152"/>
                  </a:lnTo>
                  <a:lnTo>
                    <a:pt x="0" y="3954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630" r="-50762" b="-176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3343392" cy="3973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600"/>
                </a:lnSpc>
              </a:pPr>
              <a:r>
                <a:rPr lang="en-US" sz="3000">
                  <a:solidFill>
                    <a:srgbClr val="1B3A2B"/>
                  </a:solidFill>
                  <a:latin typeface="Cambria"/>
                  <a:ea typeface="Cambria"/>
                  <a:cs typeface="Cambria"/>
                  <a:sym typeface="Cambria"/>
                </a:rPr>
                <a:t>RSUPP: la línea base (Xu, Li &amp; Zhang, 2022)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1238" y="5642017"/>
            <a:ext cx="5280660" cy="3763882"/>
            <a:chOff x="0" y="0"/>
            <a:chExt cx="7040880" cy="50185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0880" cy="5018510"/>
            </a:xfrm>
            <a:custGeom>
              <a:avLst/>
              <a:gdLst/>
              <a:ahLst/>
              <a:cxnLst/>
              <a:rect r="r" b="b" t="t" l="l"/>
              <a:pathLst>
                <a:path h="5018510" w="7040880">
                  <a:moveTo>
                    <a:pt x="0" y="188194"/>
                  </a:moveTo>
                  <a:cubicBezTo>
                    <a:pt x="0" y="84295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84295"/>
                    <a:pt x="7040880" y="188194"/>
                  </a:cubicBezTo>
                  <a:lnTo>
                    <a:pt x="7040880" y="4830316"/>
                  </a:lnTo>
                  <a:cubicBezTo>
                    <a:pt x="7040880" y="4934214"/>
                    <a:pt x="6942582" y="5018510"/>
                    <a:pt x="6821424" y="5018510"/>
                  </a:cubicBezTo>
                  <a:lnTo>
                    <a:pt x="219456" y="5018510"/>
                  </a:lnTo>
                  <a:cubicBezTo>
                    <a:pt x="98298" y="5018510"/>
                    <a:pt x="0" y="4934214"/>
                    <a:pt x="0" y="4830316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7008" y="6824377"/>
            <a:ext cx="4389120" cy="2072679"/>
            <a:chOff x="0" y="0"/>
            <a:chExt cx="5852160" cy="27635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0" cy="2763572"/>
            </a:xfrm>
            <a:custGeom>
              <a:avLst/>
              <a:gdLst/>
              <a:ahLst/>
              <a:cxnLst/>
              <a:rect r="r" b="b" t="t" l="l"/>
              <a:pathLst>
                <a:path h="276357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763572"/>
                  </a:lnTo>
                  <a:lnTo>
                    <a:pt x="0" y="2763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73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5852160" cy="2868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método RSU</a:t>
              </a: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PP utiliza un mapa de riesgo de incendio estático, dividiendo el área en subáreas mediante Gaussian Mixture Clustering para optimizar la vigilancia.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7008" y="5290321"/>
            <a:ext cx="3807956" cy="1908711"/>
            <a:chOff x="0" y="0"/>
            <a:chExt cx="5852160" cy="29333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52160" cy="2933354"/>
            </a:xfrm>
            <a:custGeom>
              <a:avLst/>
              <a:gdLst/>
              <a:ahLst/>
              <a:cxnLst/>
              <a:rect r="r" b="b" t="t" l="l"/>
              <a:pathLst>
                <a:path h="293335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33354"/>
                  </a:lnTo>
                  <a:lnTo>
                    <a:pt x="0" y="29333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127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5852160" cy="3028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1F2A2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Método RSU</a:t>
              </a:r>
              <a:r>
                <a:rPr lang="en-US" sz="2600" b="true">
                  <a:solidFill>
                    <a:srgbClr val="1F2A2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369558" y="5642017"/>
            <a:ext cx="5280660" cy="3763044"/>
            <a:chOff x="0" y="0"/>
            <a:chExt cx="7040880" cy="50173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40880" cy="5017392"/>
            </a:xfrm>
            <a:custGeom>
              <a:avLst/>
              <a:gdLst/>
              <a:ahLst/>
              <a:cxnLst/>
              <a:rect r="r" b="b" t="t" l="l"/>
              <a:pathLst>
                <a:path h="5017392" w="7040880">
                  <a:moveTo>
                    <a:pt x="0" y="188152"/>
                  </a:moveTo>
                  <a:cubicBezTo>
                    <a:pt x="0" y="84277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84277"/>
                    <a:pt x="7040880" y="188152"/>
                  </a:cubicBezTo>
                  <a:lnTo>
                    <a:pt x="7040880" y="4829240"/>
                  </a:lnTo>
                  <a:cubicBezTo>
                    <a:pt x="7040880" y="4933116"/>
                    <a:pt x="6942582" y="5017392"/>
                    <a:pt x="6821424" y="5017392"/>
                  </a:cubicBezTo>
                  <a:lnTo>
                    <a:pt x="219456" y="5017392"/>
                  </a:lnTo>
                  <a:cubicBezTo>
                    <a:pt x="98298" y="5017392"/>
                    <a:pt x="0" y="4933116"/>
                    <a:pt x="0" y="4829240"/>
                  </a:cubicBezTo>
                  <a:close/>
                </a:path>
              </a:pathLst>
            </a:custGeom>
            <a:solidFill>
              <a:srgbClr val="CCDEC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813423" y="6824377"/>
            <a:ext cx="4389120" cy="2072679"/>
            <a:chOff x="0" y="0"/>
            <a:chExt cx="5852160" cy="27635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2763572"/>
            </a:xfrm>
            <a:custGeom>
              <a:avLst/>
              <a:gdLst/>
              <a:ahLst/>
              <a:cxnLst/>
              <a:rect r="r" b="b" t="t" l="l"/>
              <a:pathLst>
                <a:path h="276357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763572"/>
                  </a:lnTo>
                  <a:lnTo>
                    <a:pt x="0" y="2763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735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5852160" cy="2868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 una ruta cerrada tipo TS</a:t>
              </a: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 por subárea utilizando una red neuronal RSOM, lo cual mejora la eficiencia de patrullaje en comparación con métodos aleatorios tradicionales.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15328" y="5290321"/>
            <a:ext cx="3807956" cy="1908711"/>
            <a:chOff x="0" y="0"/>
            <a:chExt cx="5852160" cy="29333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2160" cy="2933354"/>
            </a:xfrm>
            <a:custGeom>
              <a:avLst/>
              <a:gdLst/>
              <a:ahLst/>
              <a:cxnLst/>
              <a:rect r="r" b="b" t="t" l="l"/>
              <a:pathLst>
                <a:path h="293335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33354"/>
                  </a:lnTo>
                  <a:lnTo>
                    <a:pt x="0" y="29333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1271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5852160" cy="3028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1F2A2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Ruta Cerrada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974068" y="5642017"/>
            <a:ext cx="5280660" cy="3763044"/>
            <a:chOff x="0" y="0"/>
            <a:chExt cx="7040880" cy="50173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40880" cy="5017392"/>
            </a:xfrm>
            <a:custGeom>
              <a:avLst/>
              <a:gdLst/>
              <a:ahLst/>
              <a:cxnLst/>
              <a:rect r="r" b="b" t="t" l="l"/>
              <a:pathLst>
                <a:path h="5017392" w="7040880">
                  <a:moveTo>
                    <a:pt x="0" y="188152"/>
                  </a:moveTo>
                  <a:cubicBezTo>
                    <a:pt x="0" y="84277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84277"/>
                    <a:pt x="7040880" y="188152"/>
                  </a:cubicBezTo>
                  <a:lnTo>
                    <a:pt x="7040880" y="4829240"/>
                  </a:lnTo>
                  <a:cubicBezTo>
                    <a:pt x="7040880" y="4933116"/>
                    <a:pt x="6942582" y="5017392"/>
                    <a:pt x="6821424" y="5017392"/>
                  </a:cubicBezTo>
                  <a:lnTo>
                    <a:pt x="219456" y="5017392"/>
                  </a:lnTo>
                  <a:cubicBezTo>
                    <a:pt x="98298" y="5017392"/>
                    <a:pt x="0" y="4933116"/>
                    <a:pt x="0" y="4829240"/>
                  </a:cubicBezTo>
                  <a:close/>
                </a:path>
              </a:pathLst>
            </a:custGeom>
            <a:solidFill>
              <a:srgbClr val="B2D2B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421743" y="6619573"/>
            <a:ext cx="4389120" cy="2482287"/>
            <a:chOff x="0" y="0"/>
            <a:chExt cx="5852160" cy="33097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3309716"/>
            </a:xfrm>
            <a:custGeom>
              <a:avLst/>
              <a:gdLst/>
              <a:ahLst/>
              <a:cxnLst/>
              <a:rect r="r" b="b" t="t" l="l"/>
              <a:pathLst>
                <a:path h="33097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309716"/>
                  </a:lnTo>
                  <a:lnTo>
                    <a:pt x="0" y="330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2264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04775"/>
              <a:ext cx="5852160" cy="34144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Este enfoque f</a:t>
              </a: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ue validado en un parque forestal de Nanjing, China, mostrando resultados superiores en comparación con otros métodos, lo que resalta su efectividad en condiciones reales.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19838" y="5290321"/>
            <a:ext cx="3807956" cy="1908711"/>
            <a:chOff x="0" y="0"/>
            <a:chExt cx="5852160" cy="29333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2933354"/>
            </a:xfrm>
            <a:custGeom>
              <a:avLst/>
              <a:gdLst/>
              <a:ahLst/>
              <a:cxnLst/>
              <a:rect r="r" b="b" t="t" l="l"/>
              <a:pathLst>
                <a:path h="293335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33354"/>
                  </a:lnTo>
                  <a:lnTo>
                    <a:pt x="0" y="29333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1271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0"/>
              <a:ext cx="5852160" cy="3028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1F2A2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Validación Exitosa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5087600" cy="1234440"/>
            <a:chOff x="0" y="0"/>
            <a:chExt cx="201168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 dron solo es un punto único de falla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3058668"/>
            <a:ext cx="219456" cy="219456"/>
            <a:chOff x="0" y="0"/>
            <a:chExt cx="292608" cy="2926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2688336"/>
            <a:ext cx="15361920" cy="960120"/>
            <a:chOff x="0" y="0"/>
            <a:chExt cx="204825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20482560" cy="1413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1"/>
                </a:lnSpc>
              </a:pPr>
              <a:r>
                <a:rPr lang="en-US" sz="2799" b="true">
                  <a:solidFill>
                    <a:srgbClr val="D8E5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Detección satelital (FIRMS): resolución de 375 m–1 km y horas entre pasadas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4224528"/>
            <a:ext cx="219456" cy="219456"/>
            <a:chOff x="0" y="0"/>
            <a:chExt cx="292608" cy="292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934206"/>
            <a:ext cx="15361920" cy="960120"/>
            <a:chOff x="0" y="0"/>
            <a:chExt cx="204825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20482560" cy="1413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1"/>
                </a:lnSpc>
              </a:pPr>
              <a:r>
                <a:rPr lang="en-US" sz="2799" b="true">
                  <a:solidFill>
                    <a:srgbClr val="D8E5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Torres y brigadas (CONAF): cobertura limitada, dependen de visibilidad humana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5390388"/>
            <a:ext cx="219456" cy="219456"/>
            <a:chOff x="0" y="0"/>
            <a:chExt cx="292608" cy="2926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40180" y="5129784"/>
            <a:ext cx="15361920" cy="960120"/>
            <a:chOff x="0" y="0"/>
            <a:chExt cx="2048256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825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20482560" cy="1413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1"/>
                </a:lnSpc>
              </a:pPr>
              <a:r>
                <a:rPr lang="en-US" sz="2799" b="true">
                  <a:solidFill>
                    <a:srgbClr val="D8E5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Vigilancia aérea tripulada: alto costo, sin cobertura persistente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6858000"/>
            <a:ext cx="16596360" cy="2468880"/>
            <a:chOff x="0" y="0"/>
            <a:chExt cx="22128480" cy="3291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84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3072384"/>
                  </a:lnTo>
                  <a:cubicBezTo>
                    <a:pt x="22128480" y="3193542"/>
                    <a:pt x="22030182" y="3291840"/>
                    <a:pt x="21909024" y="3291840"/>
                  </a:cubicBezTo>
                  <a:lnTo>
                    <a:pt x="219456" y="3291840"/>
                  </a:lnTo>
                  <a:cubicBezTo>
                    <a:pt x="98298" y="3291840"/>
                    <a:pt x="0" y="3193542"/>
                    <a:pt x="0" y="3072384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7132320"/>
            <a:ext cx="15087600" cy="441833"/>
            <a:chOff x="0" y="0"/>
            <a:chExt cx="20116800" cy="589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0" cy="589111"/>
            </a:xfrm>
            <a:custGeom>
              <a:avLst/>
              <a:gdLst/>
              <a:ahLst/>
              <a:cxnLst/>
              <a:rect r="r" b="b" t="t" l="l"/>
              <a:pathLst>
                <a:path h="589111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5700" r="0" b="-6150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1168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PROBLEMÁTICA CENTRAL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" y="7612380"/>
            <a:ext cx="15499080" cy="1577340"/>
            <a:chOff x="0" y="0"/>
            <a:chExt cx="20665440" cy="2103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665439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61" r="0" b="-14146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20665440" cy="2207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Ausencia de una infraestructura de red geolocalizada y de un esquema de ruteo que permita a una flota de drones mantener cobertura de detección temprana, de forma resiliente ante fallas y amenazas dinámicas.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" y="548640"/>
            <a:ext cx="12344400" cy="480060"/>
            <a:chOff x="0" y="0"/>
            <a:chExt cx="164592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64592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PROBLEMÁTICA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260355"/>
            <a:ext cx="10153976" cy="8208420"/>
            <a:chOff x="0" y="0"/>
            <a:chExt cx="10507760" cy="8494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07760" cy="8494418"/>
            </a:xfrm>
            <a:custGeom>
              <a:avLst/>
              <a:gdLst/>
              <a:ahLst/>
              <a:cxnLst/>
              <a:rect r="r" b="b" t="t" l="l"/>
              <a:pathLst>
                <a:path h="8494418" w="10507760">
                  <a:moveTo>
                    <a:pt x="0" y="261367"/>
                  </a:moveTo>
                  <a:cubicBezTo>
                    <a:pt x="0" y="117070"/>
                    <a:pt x="46677" y="0"/>
                    <a:pt x="104209" y="0"/>
                  </a:cubicBezTo>
                  <a:lnTo>
                    <a:pt x="10403551" y="0"/>
                  </a:lnTo>
                  <a:cubicBezTo>
                    <a:pt x="10461083" y="0"/>
                    <a:pt x="10507760" y="117070"/>
                    <a:pt x="10507760" y="261367"/>
                  </a:cubicBezTo>
                  <a:lnTo>
                    <a:pt x="10507760" y="8233051"/>
                  </a:lnTo>
                  <a:cubicBezTo>
                    <a:pt x="10507760" y="8377347"/>
                    <a:pt x="10461083" y="8494418"/>
                    <a:pt x="10403551" y="8494418"/>
                  </a:cubicBezTo>
                  <a:lnTo>
                    <a:pt x="104209" y="8494418"/>
                  </a:lnTo>
                  <a:cubicBezTo>
                    <a:pt x="46677" y="8494417"/>
                    <a:pt x="0" y="8377347"/>
                    <a:pt x="0" y="8233051"/>
                  </a:cubicBezTo>
                  <a:close/>
                </a:path>
              </a:pathLst>
            </a:custGeom>
            <a:solidFill>
              <a:srgbClr val="1B3A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0195" y="1991340"/>
            <a:ext cx="9425185" cy="7266960"/>
            <a:chOff x="0" y="0"/>
            <a:chExt cx="9753577" cy="75201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576" cy="7520154"/>
            </a:xfrm>
            <a:custGeom>
              <a:avLst/>
              <a:gdLst/>
              <a:ahLst/>
              <a:cxnLst/>
              <a:rect r="r" b="b" t="t" l="l"/>
              <a:pathLst>
                <a:path h="7520154" w="9753576">
                  <a:moveTo>
                    <a:pt x="0" y="0"/>
                  </a:moveTo>
                  <a:lnTo>
                    <a:pt x="9753576" y="0"/>
                  </a:lnTo>
                  <a:lnTo>
                    <a:pt x="9753576" y="7520154"/>
                  </a:lnTo>
                  <a:lnTo>
                    <a:pt x="0" y="7520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19" r="-111875" b="632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9753577" cy="7624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Si el área se modela como un grafo geoespacial ponderado G(V,E), con costos de arista calculados dinámicamente a partir de metadata real (elevación, vegetación, viento, temperatura, incendios activos, restricciones legales), entonces algoritmos de ruteo resiliente (rutas alternativas, caminos disjuntos, re-ruteo dinámico) permitirán mantener cobertura de vigilancia ante la falla de nodos o aristas específicas, superando a un esquema de ruta única y estática.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1052" y="0"/>
            <a:ext cx="10042358" cy="4732615"/>
            <a:chOff x="0" y="0"/>
            <a:chExt cx="10392253" cy="4897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92253" cy="4897508"/>
            </a:xfrm>
            <a:custGeom>
              <a:avLst/>
              <a:gdLst/>
              <a:ahLst/>
              <a:cxnLst/>
              <a:rect r="r" b="b" t="t" l="l"/>
              <a:pathLst>
                <a:path h="4897508" w="10392253">
                  <a:moveTo>
                    <a:pt x="0" y="0"/>
                  </a:moveTo>
                  <a:lnTo>
                    <a:pt x="10392253" y="0"/>
                  </a:lnTo>
                  <a:lnTo>
                    <a:pt x="10392253" y="4897508"/>
                  </a:lnTo>
                  <a:lnTo>
                    <a:pt x="0" y="48975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01" r="-102373" b="-79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0392253" cy="4973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8"/>
                </a:lnSpc>
              </a:pPr>
              <a:r>
                <a:rPr lang="en-US" sz="40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La resiliencia no se logra con más drones, sino con topología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558165"/>
            <a:ext cx="11192862" cy="480060"/>
            <a:chOff x="0" y="0"/>
            <a:chExt cx="14923816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23816" cy="640080"/>
            </a:xfrm>
            <a:custGeom>
              <a:avLst/>
              <a:gdLst/>
              <a:ahLst/>
              <a:cxnLst/>
              <a:rect r="r" b="b" t="t" l="l"/>
              <a:pathLst>
                <a:path h="640080" w="14923816">
                  <a:moveTo>
                    <a:pt x="0" y="0"/>
                  </a:moveTo>
                  <a:lnTo>
                    <a:pt x="14923816" y="0"/>
                  </a:lnTo>
                  <a:lnTo>
                    <a:pt x="149238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-10288" b="-4510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92381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HIPÓTESIS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23516" y="0"/>
            <a:ext cx="6054049" cy="10287000"/>
            <a:chOff x="0" y="0"/>
            <a:chExt cx="937931" cy="1593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793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37931">
                  <a:moveTo>
                    <a:pt x="0" y="0"/>
                  </a:moveTo>
                  <a:lnTo>
                    <a:pt x="937931" y="0"/>
                  </a:lnTo>
                  <a:lnTo>
                    <a:pt x="93793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14356" t="0" r="-14356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4401800" cy="1097280"/>
            <a:chOff x="0" y="0"/>
            <a:chExt cx="192024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202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un ciclo estático a un grafo resiliente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537460"/>
            <a:ext cx="16596360" cy="754380"/>
            <a:chOff x="0" y="0"/>
            <a:chExt cx="2212848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786384"/>
                  </a:lnTo>
                  <a:cubicBezTo>
                    <a:pt x="22128480" y="907542"/>
                    <a:pt x="22030182" y="1005840"/>
                    <a:pt x="21909024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1B3A2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537460"/>
            <a:ext cx="3566160" cy="754380"/>
            <a:chOff x="0" y="0"/>
            <a:chExt cx="475488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7548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Dimensión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06340" y="2537460"/>
            <a:ext cx="6309360" cy="754380"/>
            <a:chOff x="0" y="0"/>
            <a:chExt cx="841248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12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965" r="0" b="-1129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4124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Xu, Li &amp; Zhang (2022) — Base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27180" y="2537460"/>
            <a:ext cx="5623560" cy="754380"/>
            <a:chOff x="0" y="0"/>
            <a:chExt cx="749808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4980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Propuesta de este proyecto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291840"/>
            <a:ext cx="16596360" cy="1371600"/>
            <a:chOff x="0" y="0"/>
            <a:chExt cx="2212848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1609344"/>
                  </a:lnTo>
                  <a:cubicBezTo>
                    <a:pt x="22128480" y="1730502"/>
                    <a:pt x="22030182" y="1828800"/>
                    <a:pt x="21909024" y="1828800"/>
                  </a:cubicBezTo>
                  <a:lnTo>
                    <a:pt x="219456" y="1828800"/>
                  </a:lnTo>
                  <a:cubicBezTo>
                    <a:pt x="98298" y="1828800"/>
                    <a:pt x="0" y="1730502"/>
                    <a:pt x="0" y="160934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3360420"/>
            <a:ext cx="3497580" cy="1234440"/>
            <a:chOff x="0" y="0"/>
            <a:chExt cx="4663440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634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46634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 b="true">
                  <a:solidFill>
                    <a:srgbClr val="1F2A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Estructura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06340" y="3360420"/>
            <a:ext cx="6240780" cy="1234440"/>
            <a:chOff x="0" y="0"/>
            <a:chExt cx="832104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83210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Ciclo TSP único por subárea (RSOM)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27180" y="3360420"/>
            <a:ext cx="5554980" cy="1234440"/>
            <a:chOff x="0" y="0"/>
            <a:chExt cx="740664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06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74066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Grafo G(V,E) con múltiples rutas factibles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4732020"/>
            <a:ext cx="3497580" cy="1234440"/>
            <a:chOff x="0" y="0"/>
            <a:chExt cx="4663440" cy="1645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634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46634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 b="true">
                  <a:solidFill>
                    <a:srgbClr val="1F2A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Origen del riesgo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06340" y="4732020"/>
            <a:ext cx="6240780" cy="1234440"/>
            <a:chOff x="0" y="0"/>
            <a:chExt cx="8321040" cy="1645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83210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estático, precomputado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727180" y="4732020"/>
            <a:ext cx="5554980" cy="1234440"/>
            <a:chOff x="0" y="0"/>
            <a:chExt cx="7406640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06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74066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Metadata dinámica desde 6 fuentes chilenas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6035040"/>
            <a:ext cx="16596360" cy="1371600"/>
            <a:chOff x="0" y="0"/>
            <a:chExt cx="2212848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1609344"/>
                  </a:lnTo>
                  <a:cubicBezTo>
                    <a:pt x="22128480" y="1730502"/>
                    <a:pt x="22030182" y="1828800"/>
                    <a:pt x="21909024" y="1828800"/>
                  </a:cubicBezTo>
                  <a:lnTo>
                    <a:pt x="219456" y="1828800"/>
                  </a:lnTo>
                  <a:cubicBezTo>
                    <a:pt x="98298" y="1828800"/>
                    <a:pt x="0" y="1730502"/>
                    <a:pt x="0" y="160934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700" y="6103620"/>
            <a:ext cx="3497580" cy="1234440"/>
            <a:chOff x="0" y="0"/>
            <a:chExt cx="4663440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634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46634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 b="true">
                  <a:solidFill>
                    <a:srgbClr val="1F2A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Ante una falla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06340" y="6103620"/>
            <a:ext cx="6240780" cy="1234440"/>
            <a:chOff x="0" y="0"/>
            <a:chExt cx="832104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83210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 recuperación; ciclo interrumpido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727180" y="6103620"/>
            <a:ext cx="5554980" cy="1234440"/>
            <a:chOff x="0" y="0"/>
            <a:chExt cx="740664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06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74066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Caminos alternativos y recálculo de costo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8700" y="7475220"/>
            <a:ext cx="3497580" cy="1234440"/>
            <a:chOff x="0" y="0"/>
            <a:chExt cx="4663440" cy="1645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634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46634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 b="true">
                  <a:solidFill>
                    <a:srgbClr val="1F2A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06340" y="7475220"/>
            <a:ext cx="6240780" cy="1234440"/>
            <a:chOff x="0" y="0"/>
            <a:chExt cx="8321040" cy="1645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83210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Nanjing, China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27180" y="7475220"/>
            <a:ext cx="5554980" cy="1234440"/>
            <a:chOff x="0" y="0"/>
            <a:chExt cx="7406640" cy="16459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406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74066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Interfaz urbano-forestal de Chile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de Drones para Detección y Vigilancia de Incendios Forestales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558165"/>
            <a:ext cx="11192862" cy="480060"/>
            <a:chOff x="0" y="0"/>
            <a:chExt cx="14923816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923816" cy="640080"/>
            </a:xfrm>
            <a:custGeom>
              <a:avLst/>
              <a:gdLst/>
              <a:ahLst/>
              <a:cxnLst/>
              <a:rect r="r" b="b" t="t" l="l"/>
              <a:pathLst>
                <a:path h="640080" w="14923816">
                  <a:moveTo>
                    <a:pt x="0" y="0"/>
                  </a:moveTo>
                  <a:lnTo>
                    <a:pt x="14923816" y="0"/>
                  </a:lnTo>
                  <a:lnTo>
                    <a:pt x="149238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-10288" b="-4510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492381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BRECHA Y MEJORA PROPUESTA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8254" y="-251267"/>
            <a:ext cx="12879123" cy="2559934"/>
            <a:chOff x="0" y="0"/>
            <a:chExt cx="17172164" cy="3413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72164" cy="3413245"/>
            </a:xfrm>
            <a:custGeom>
              <a:avLst/>
              <a:gdLst/>
              <a:ahLst/>
              <a:cxnLst/>
              <a:rect r="r" b="b" t="t" l="l"/>
              <a:pathLst>
                <a:path h="3413245" w="17172164">
                  <a:moveTo>
                    <a:pt x="0" y="0"/>
                  </a:moveTo>
                  <a:lnTo>
                    <a:pt x="17172164" y="0"/>
                  </a:lnTo>
                  <a:lnTo>
                    <a:pt x="17172164" y="3413245"/>
                  </a:lnTo>
                  <a:lnTo>
                    <a:pt x="0" y="3413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444" r="-17147" b="-282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172164" cy="3422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254" y="1448761"/>
            <a:ext cx="13112429" cy="1097280"/>
            <a:chOff x="0" y="0"/>
            <a:chExt cx="17483238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8323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483238">
                  <a:moveTo>
                    <a:pt x="0" y="0"/>
                  </a:moveTo>
                  <a:lnTo>
                    <a:pt x="17483238" y="0"/>
                  </a:lnTo>
                  <a:lnTo>
                    <a:pt x="1748323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-23431" b="-2374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7483238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una infraestructura de red geoespacial y un esquema de ruteo resiliente para una flota de drones de vigilancia de incendios forestales en zonas de interfaz urbano-forestal de Chile.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0106" y="2836262"/>
            <a:ext cx="14649488" cy="6287921"/>
            <a:chOff x="0" y="0"/>
            <a:chExt cx="14870620" cy="63828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70621" cy="6382837"/>
            </a:xfrm>
            <a:custGeom>
              <a:avLst/>
              <a:gdLst/>
              <a:ahLst/>
              <a:cxnLst/>
              <a:rect r="r" b="b" t="t" l="l"/>
              <a:pathLst>
                <a:path h="6382837" w="14870621">
                  <a:moveTo>
                    <a:pt x="0" y="196395"/>
                  </a:moveTo>
                  <a:cubicBezTo>
                    <a:pt x="0" y="87969"/>
                    <a:pt x="66058" y="0"/>
                    <a:pt x="147477" y="0"/>
                  </a:cubicBezTo>
                  <a:lnTo>
                    <a:pt x="14723143" y="0"/>
                  </a:lnTo>
                  <a:cubicBezTo>
                    <a:pt x="14804563" y="0"/>
                    <a:pt x="14870621" y="87969"/>
                    <a:pt x="14870621" y="196395"/>
                  </a:cubicBezTo>
                  <a:lnTo>
                    <a:pt x="14870621" y="6186442"/>
                  </a:lnTo>
                  <a:cubicBezTo>
                    <a:pt x="14870621" y="6294868"/>
                    <a:pt x="14804563" y="6382837"/>
                    <a:pt x="14723143" y="6382837"/>
                  </a:cubicBezTo>
                  <a:lnTo>
                    <a:pt x="147477" y="6382837"/>
                  </a:lnTo>
                  <a:cubicBezTo>
                    <a:pt x="66058" y="6382836"/>
                    <a:pt x="0" y="6294868"/>
                    <a:pt x="0" y="6186442"/>
                  </a:cubicBezTo>
                  <a:close/>
                </a:path>
              </a:pathLst>
            </a:custGeom>
            <a:solidFill>
              <a:srgbClr val="1B3A2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6642" y="2459634"/>
            <a:ext cx="13129666" cy="2235525"/>
            <a:chOff x="0" y="0"/>
            <a:chExt cx="17172164" cy="29238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72164" cy="2923822"/>
            </a:xfrm>
            <a:custGeom>
              <a:avLst/>
              <a:gdLst/>
              <a:ahLst/>
              <a:cxnLst/>
              <a:rect r="r" b="b" t="t" l="l"/>
              <a:pathLst>
                <a:path h="2923822" w="17172164">
                  <a:moveTo>
                    <a:pt x="0" y="0"/>
                  </a:moveTo>
                  <a:lnTo>
                    <a:pt x="17172164" y="0"/>
                  </a:lnTo>
                  <a:lnTo>
                    <a:pt x="17172164" y="2923822"/>
                  </a:lnTo>
                  <a:lnTo>
                    <a:pt x="0" y="29238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89" r="-17147" b="-481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172164" cy="2933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 ESPECÍFICOS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6642" y="4846126"/>
            <a:ext cx="417762" cy="489399"/>
            <a:chOff x="0" y="0"/>
            <a:chExt cx="546387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109728"/>
                  </a:moveTo>
                  <a:cubicBezTo>
                    <a:pt x="0" y="49149"/>
                    <a:pt x="41955" y="0"/>
                    <a:pt x="93666" y="0"/>
                  </a:cubicBezTo>
                  <a:lnTo>
                    <a:pt x="452721" y="0"/>
                  </a:lnTo>
                  <a:cubicBezTo>
                    <a:pt x="504432" y="0"/>
                    <a:pt x="546387" y="49149"/>
                    <a:pt x="546387" y="109728"/>
                  </a:cubicBezTo>
                  <a:lnTo>
                    <a:pt x="546387" y="530352"/>
                  </a:lnTo>
                  <a:cubicBezTo>
                    <a:pt x="546387" y="590931"/>
                    <a:pt x="504432" y="640080"/>
                    <a:pt x="452721" y="640080"/>
                  </a:cubicBezTo>
                  <a:lnTo>
                    <a:pt x="93666" y="640080"/>
                  </a:lnTo>
                  <a:cubicBezTo>
                    <a:pt x="41955" y="640080"/>
                    <a:pt x="0" y="590931"/>
                    <a:pt x="0" y="530352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6642" y="4846126"/>
            <a:ext cx="417762" cy="489399"/>
            <a:chOff x="0" y="0"/>
            <a:chExt cx="546387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0"/>
                  </a:moveTo>
                  <a:lnTo>
                    <a:pt x="546387" y="0"/>
                  </a:lnTo>
                  <a:lnTo>
                    <a:pt x="546387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730" t="0" r="-10887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46387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3445" y="4695159"/>
            <a:ext cx="6385792" cy="1048712"/>
            <a:chOff x="0" y="0"/>
            <a:chExt cx="8351916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51917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51917">
                  <a:moveTo>
                    <a:pt x="0" y="0"/>
                  </a:moveTo>
                  <a:lnTo>
                    <a:pt x="8351917" y="0"/>
                  </a:lnTo>
                  <a:lnTo>
                    <a:pt x="8351917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93" r="-17147" b="-8899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8351916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Analizar el modelo RSUPP y sus limitaciones frente a fallas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56999" y="4846126"/>
            <a:ext cx="417762" cy="489399"/>
            <a:chOff x="0" y="0"/>
            <a:chExt cx="546387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109728"/>
                  </a:moveTo>
                  <a:cubicBezTo>
                    <a:pt x="0" y="49149"/>
                    <a:pt x="41955" y="0"/>
                    <a:pt x="93666" y="0"/>
                  </a:cubicBezTo>
                  <a:lnTo>
                    <a:pt x="452721" y="0"/>
                  </a:lnTo>
                  <a:cubicBezTo>
                    <a:pt x="504432" y="0"/>
                    <a:pt x="546387" y="49149"/>
                    <a:pt x="546387" y="109728"/>
                  </a:cubicBezTo>
                  <a:lnTo>
                    <a:pt x="546387" y="530352"/>
                  </a:lnTo>
                  <a:cubicBezTo>
                    <a:pt x="546387" y="590931"/>
                    <a:pt x="504432" y="640080"/>
                    <a:pt x="452721" y="640080"/>
                  </a:cubicBezTo>
                  <a:lnTo>
                    <a:pt x="93666" y="640080"/>
                  </a:lnTo>
                  <a:cubicBezTo>
                    <a:pt x="41955" y="640080"/>
                    <a:pt x="0" y="590931"/>
                    <a:pt x="0" y="530352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056999" y="4846126"/>
            <a:ext cx="417762" cy="489399"/>
            <a:chOff x="0" y="0"/>
            <a:chExt cx="546387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0"/>
                  </a:moveTo>
                  <a:lnTo>
                    <a:pt x="546387" y="0"/>
                  </a:lnTo>
                  <a:lnTo>
                    <a:pt x="546387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730" t="0" r="-10887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46387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653802" y="4566470"/>
            <a:ext cx="6385792" cy="1048712"/>
            <a:chOff x="0" y="0"/>
            <a:chExt cx="8351916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51917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51917">
                  <a:moveTo>
                    <a:pt x="0" y="0"/>
                  </a:moveTo>
                  <a:lnTo>
                    <a:pt x="8351917" y="0"/>
                  </a:lnTo>
                  <a:lnTo>
                    <a:pt x="8351917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93" r="-17147" b="-889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8351916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Modelar la zona como un grafo geoespacial G(V,E)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6642" y="6174495"/>
            <a:ext cx="417762" cy="489399"/>
            <a:chOff x="0" y="0"/>
            <a:chExt cx="546387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109728"/>
                  </a:moveTo>
                  <a:cubicBezTo>
                    <a:pt x="0" y="49149"/>
                    <a:pt x="41955" y="0"/>
                    <a:pt x="93666" y="0"/>
                  </a:cubicBezTo>
                  <a:lnTo>
                    <a:pt x="452721" y="0"/>
                  </a:lnTo>
                  <a:cubicBezTo>
                    <a:pt x="504432" y="0"/>
                    <a:pt x="546387" y="49149"/>
                    <a:pt x="546387" y="109728"/>
                  </a:cubicBezTo>
                  <a:lnTo>
                    <a:pt x="546387" y="530352"/>
                  </a:lnTo>
                  <a:cubicBezTo>
                    <a:pt x="546387" y="590931"/>
                    <a:pt x="504432" y="640080"/>
                    <a:pt x="452721" y="640080"/>
                  </a:cubicBezTo>
                  <a:lnTo>
                    <a:pt x="93666" y="640080"/>
                  </a:lnTo>
                  <a:cubicBezTo>
                    <a:pt x="41955" y="640080"/>
                    <a:pt x="0" y="590931"/>
                    <a:pt x="0" y="530352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6642" y="6174495"/>
            <a:ext cx="417762" cy="489399"/>
            <a:chOff x="0" y="0"/>
            <a:chExt cx="546387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0"/>
                  </a:moveTo>
                  <a:lnTo>
                    <a:pt x="546387" y="0"/>
                  </a:lnTo>
                  <a:lnTo>
                    <a:pt x="546387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730" t="0" r="-10887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46387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53445" y="5894838"/>
            <a:ext cx="6385792" cy="1048712"/>
            <a:chOff x="0" y="0"/>
            <a:chExt cx="8351916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51917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51917">
                  <a:moveTo>
                    <a:pt x="0" y="0"/>
                  </a:moveTo>
                  <a:lnTo>
                    <a:pt x="8351917" y="0"/>
                  </a:lnTo>
                  <a:lnTo>
                    <a:pt x="8351917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93" r="-17147" b="-8899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8351916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Integrar metadata dinámica desde 6 fuentes chilenas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056999" y="6174495"/>
            <a:ext cx="417762" cy="489399"/>
            <a:chOff x="0" y="0"/>
            <a:chExt cx="546387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109728"/>
                  </a:moveTo>
                  <a:cubicBezTo>
                    <a:pt x="0" y="49149"/>
                    <a:pt x="41955" y="0"/>
                    <a:pt x="93666" y="0"/>
                  </a:cubicBezTo>
                  <a:lnTo>
                    <a:pt x="452721" y="0"/>
                  </a:lnTo>
                  <a:cubicBezTo>
                    <a:pt x="504432" y="0"/>
                    <a:pt x="546387" y="49149"/>
                    <a:pt x="546387" y="109728"/>
                  </a:cubicBezTo>
                  <a:lnTo>
                    <a:pt x="546387" y="530352"/>
                  </a:lnTo>
                  <a:cubicBezTo>
                    <a:pt x="546387" y="590931"/>
                    <a:pt x="504432" y="640080"/>
                    <a:pt x="452721" y="640080"/>
                  </a:cubicBezTo>
                  <a:lnTo>
                    <a:pt x="93666" y="640080"/>
                  </a:lnTo>
                  <a:cubicBezTo>
                    <a:pt x="41955" y="640080"/>
                    <a:pt x="0" y="590931"/>
                    <a:pt x="0" y="530352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056999" y="6174495"/>
            <a:ext cx="417762" cy="489399"/>
            <a:chOff x="0" y="0"/>
            <a:chExt cx="546387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0"/>
                  </a:moveTo>
                  <a:lnTo>
                    <a:pt x="546387" y="0"/>
                  </a:lnTo>
                  <a:lnTo>
                    <a:pt x="546387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730" t="0" r="-10887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546387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653802" y="5894838"/>
            <a:ext cx="6385792" cy="1048712"/>
            <a:chOff x="0" y="0"/>
            <a:chExt cx="8351916" cy="137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51917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51917">
                  <a:moveTo>
                    <a:pt x="0" y="0"/>
                  </a:moveTo>
                  <a:lnTo>
                    <a:pt x="8351917" y="0"/>
                  </a:lnTo>
                  <a:lnTo>
                    <a:pt x="8351917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93" r="-17147" b="-8899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8351916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Identificar fallas y eventos que puedan afectar la red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6642" y="7502863"/>
            <a:ext cx="417762" cy="489399"/>
            <a:chOff x="0" y="0"/>
            <a:chExt cx="546387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109728"/>
                  </a:moveTo>
                  <a:cubicBezTo>
                    <a:pt x="0" y="49149"/>
                    <a:pt x="41955" y="0"/>
                    <a:pt x="93666" y="0"/>
                  </a:cubicBezTo>
                  <a:lnTo>
                    <a:pt x="452721" y="0"/>
                  </a:lnTo>
                  <a:cubicBezTo>
                    <a:pt x="504432" y="0"/>
                    <a:pt x="546387" y="49149"/>
                    <a:pt x="546387" y="109728"/>
                  </a:cubicBezTo>
                  <a:lnTo>
                    <a:pt x="546387" y="530352"/>
                  </a:lnTo>
                  <a:cubicBezTo>
                    <a:pt x="546387" y="590931"/>
                    <a:pt x="504432" y="640080"/>
                    <a:pt x="452721" y="640080"/>
                  </a:cubicBezTo>
                  <a:lnTo>
                    <a:pt x="93666" y="640080"/>
                  </a:lnTo>
                  <a:cubicBezTo>
                    <a:pt x="41955" y="640080"/>
                    <a:pt x="0" y="590931"/>
                    <a:pt x="0" y="530352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6642" y="7502863"/>
            <a:ext cx="417762" cy="489399"/>
            <a:chOff x="0" y="0"/>
            <a:chExt cx="546387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0"/>
                  </a:moveTo>
                  <a:lnTo>
                    <a:pt x="546387" y="0"/>
                  </a:lnTo>
                  <a:lnTo>
                    <a:pt x="546387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730" t="0" r="-10887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46387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53445" y="7223206"/>
            <a:ext cx="6385792" cy="1048712"/>
            <a:chOff x="0" y="0"/>
            <a:chExt cx="8351916" cy="1371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51917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51917">
                  <a:moveTo>
                    <a:pt x="0" y="0"/>
                  </a:moveTo>
                  <a:lnTo>
                    <a:pt x="8351917" y="0"/>
                  </a:lnTo>
                  <a:lnTo>
                    <a:pt x="8351917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93" r="-17147" b="-8899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8351916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una estrategia de ruteo resiliente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056999" y="7502863"/>
            <a:ext cx="417762" cy="489399"/>
            <a:chOff x="0" y="0"/>
            <a:chExt cx="546387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109728"/>
                  </a:moveTo>
                  <a:cubicBezTo>
                    <a:pt x="0" y="49149"/>
                    <a:pt x="41955" y="0"/>
                    <a:pt x="93666" y="0"/>
                  </a:cubicBezTo>
                  <a:lnTo>
                    <a:pt x="452721" y="0"/>
                  </a:lnTo>
                  <a:cubicBezTo>
                    <a:pt x="504432" y="0"/>
                    <a:pt x="546387" y="49149"/>
                    <a:pt x="546387" y="109728"/>
                  </a:cubicBezTo>
                  <a:lnTo>
                    <a:pt x="546387" y="530352"/>
                  </a:lnTo>
                  <a:cubicBezTo>
                    <a:pt x="546387" y="590931"/>
                    <a:pt x="504432" y="640080"/>
                    <a:pt x="452721" y="640080"/>
                  </a:cubicBezTo>
                  <a:lnTo>
                    <a:pt x="93666" y="640080"/>
                  </a:lnTo>
                  <a:cubicBezTo>
                    <a:pt x="41955" y="640080"/>
                    <a:pt x="0" y="590931"/>
                    <a:pt x="0" y="530352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056999" y="7502863"/>
            <a:ext cx="417762" cy="489399"/>
            <a:chOff x="0" y="0"/>
            <a:chExt cx="546387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6387" cy="640080"/>
            </a:xfrm>
            <a:custGeom>
              <a:avLst/>
              <a:gdLst/>
              <a:ahLst/>
              <a:cxnLst/>
              <a:rect r="r" b="b" t="t" l="l"/>
              <a:pathLst>
                <a:path h="640080" w="546387">
                  <a:moveTo>
                    <a:pt x="0" y="0"/>
                  </a:moveTo>
                  <a:lnTo>
                    <a:pt x="546387" y="0"/>
                  </a:lnTo>
                  <a:lnTo>
                    <a:pt x="546387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730" t="0" r="-108878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546387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655736" y="7378623"/>
            <a:ext cx="6385792" cy="1048712"/>
            <a:chOff x="0" y="0"/>
            <a:chExt cx="8351916" cy="1371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51917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51917">
                  <a:moveTo>
                    <a:pt x="0" y="0"/>
                  </a:moveTo>
                  <a:lnTo>
                    <a:pt x="8351917" y="0"/>
                  </a:lnTo>
                  <a:lnTo>
                    <a:pt x="8351917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93" r="-17147" b="-8899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85725"/>
              <a:ext cx="8351916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Comparar la propuesta vs. RSUPP en escenarios normales y de falla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64" id="64"/>
          <p:cNvGrpSpPr>
            <a:grpSpLocks noChangeAspect="true"/>
          </p:cNvGrpSpPr>
          <p:nvPr/>
        </p:nvGrpSpPr>
        <p:grpSpPr>
          <a:xfrm rot="0">
            <a:off x="15380534" y="-3669724"/>
            <a:ext cx="2907466" cy="14640256"/>
            <a:chOff x="0" y="0"/>
            <a:chExt cx="6350000" cy="3197479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350000" cy="31974789"/>
            </a:xfrm>
            <a:custGeom>
              <a:avLst/>
              <a:gdLst/>
              <a:ahLst/>
              <a:cxnLst/>
              <a:rect r="r" b="b" t="t" l="l"/>
              <a:pathLst>
                <a:path h="31974789" w="6350000">
                  <a:moveTo>
                    <a:pt x="6350000" y="31918911"/>
                  </a:moveTo>
                  <a:cubicBezTo>
                    <a:pt x="6350000" y="31949389"/>
                    <a:pt x="6324600" y="31974789"/>
                    <a:pt x="6294120" y="31974789"/>
                  </a:cubicBezTo>
                  <a:lnTo>
                    <a:pt x="55880" y="31974789"/>
                  </a:lnTo>
                  <a:cubicBezTo>
                    <a:pt x="25400" y="31974789"/>
                    <a:pt x="0" y="31949389"/>
                    <a:pt x="0" y="31918911"/>
                  </a:cubicBezTo>
                  <a:lnTo>
                    <a:pt x="0" y="55880"/>
                  </a:lnTo>
                  <a:cubicBezTo>
                    <a:pt x="0" y="25400"/>
                    <a:pt x="25400" y="0"/>
                    <a:pt x="55880" y="0"/>
                  </a:cubicBezTo>
                  <a:lnTo>
                    <a:pt x="6292850" y="0"/>
                  </a:lnTo>
                  <a:cubicBezTo>
                    <a:pt x="6323330" y="0"/>
                    <a:pt x="6348730" y="25400"/>
                    <a:pt x="6348730" y="55880"/>
                  </a:cubicBezTo>
                  <a:lnTo>
                    <a:pt x="6350000" y="31918908"/>
                  </a:lnTo>
                  <a:close/>
                </a:path>
              </a:pathLst>
            </a:custGeom>
            <a:solidFill>
              <a:srgbClr val="1B3A2B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477520" y="24051261"/>
              <a:ext cx="5394960" cy="7305039"/>
            </a:xfrm>
            <a:custGeom>
              <a:avLst/>
              <a:gdLst/>
              <a:ahLst/>
              <a:cxnLst/>
              <a:rect r="r" b="b" t="t" l="l"/>
              <a:pathLst>
                <a:path h="7305039" w="5394960">
                  <a:moveTo>
                    <a:pt x="5394960" y="7249160"/>
                  </a:moveTo>
                  <a:cubicBezTo>
                    <a:pt x="5394960" y="7279639"/>
                    <a:pt x="5369560" y="7305039"/>
                    <a:pt x="5339080" y="7305039"/>
                  </a:cubicBezTo>
                  <a:lnTo>
                    <a:pt x="55880" y="7305039"/>
                  </a:lnTo>
                  <a:cubicBezTo>
                    <a:pt x="25400" y="7305039"/>
                    <a:pt x="0" y="7279639"/>
                    <a:pt x="0" y="7249160"/>
                  </a:cubicBezTo>
                  <a:lnTo>
                    <a:pt x="0" y="55880"/>
                  </a:lnTo>
                  <a:cubicBezTo>
                    <a:pt x="0" y="25400"/>
                    <a:pt x="25400" y="0"/>
                    <a:pt x="55880" y="0"/>
                  </a:cubicBezTo>
                  <a:lnTo>
                    <a:pt x="5339080" y="0"/>
                  </a:lnTo>
                  <a:cubicBezTo>
                    <a:pt x="5369560" y="0"/>
                    <a:pt x="5394960" y="25400"/>
                    <a:pt x="5394960" y="55880"/>
                  </a:cubicBezTo>
                  <a:lnTo>
                    <a:pt x="5394960" y="7249160"/>
                  </a:lnTo>
                  <a:close/>
                </a:path>
              </a:pathLst>
            </a:custGeom>
            <a:blipFill>
              <a:blip r:embed="rId4"/>
              <a:stretch>
                <a:fillRect l="-7716" t="0" r="-7716" b="0"/>
              </a:stretch>
            </a:blip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477520" y="16240759"/>
              <a:ext cx="5394960" cy="7305041"/>
            </a:xfrm>
            <a:custGeom>
              <a:avLst/>
              <a:gdLst/>
              <a:ahLst/>
              <a:cxnLst/>
              <a:rect r="r" b="b" t="t" l="l"/>
              <a:pathLst>
                <a:path h="7305041" w="5394960">
                  <a:moveTo>
                    <a:pt x="5394960" y="7249161"/>
                  </a:moveTo>
                  <a:cubicBezTo>
                    <a:pt x="5394960" y="7279641"/>
                    <a:pt x="5369560" y="7305041"/>
                    <a:pt x="5339080" y="7305041"/>
                  </a:cubicBezTo>
                  <a:lnTo>
                    <a:pt x="55880" y="7305041"/>
                  </a:lnTo>
                  <a:cubicBezTo>
                    <a:pt x="25400" y="7305041"/>
                    <a:pt x="0" y="7279641"/>
                    <a:pt x="0" y="7249161"/>
                  </a:cubicBezTo>
                  <a:lnTo>
                    <a:pt x="0" y="55880"/>
                  </a:lnTo>
                  <a:cubicBezTo>
                    <a:pt x="0" y="25400"/>
                    <a:pt x="25400" y="0"/>
                    <a:pt x="55880" y="0"/>
                  </a:cubicBezTo>
                  <a:lnTo>
                    <a:pt x="5339080" y="0"/>
                  </a:lnTo>
                  <a:cubicBezTo>
                    <a:pt x="5369560" y="0"/>
                    <a:pt x="5394960" y="25400"/>
                    <a:pt x="5394960" y="55880"/>
                  </a:cubicBezTo>
                  <a:lnTo>
                    <a:pt x="5394960" y="7249161"/>
                  </a:lnTo>
                  <a:close/>
                </a:path>
              </a:pathLst>
            </a:custGeom>
            <a:blipFill>
              <a:blip r:embed="rId5"/>
              <a:stretch>
                <a:fillRect l="0" t="-6700" r="0" b="-6700"/>
              </a:stretch>
            </a:blip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477520" y="618490"/>
              <a:ext cx="5394960" cy="7305040"/>
            </a:xfrm>
            <a:custGeom>
              <a:avLst/>
              <a:gdLst/>
              <a:ahLst/>
              <a:cxnLst/>
              <a:rect r="r" b="b" t="t" l="l"/>
              <a:pathLst>
                <a:path h="7305040" w="5394960">
                  <a:moveTo>
                    <a:pt x="5394960" y="7249160"/>
                  </a:moveTo>
                  <a:cubicBezTo>
                    <a:pt x="5394960" y="7279640"/>
                    <a:pt x="5369560" y="7305040"/>
                    <a:pt x="5339080" y="7305040"/>
                  </a:cubicBezTo>
                  <a:lnTo>
                    <a:pt x="55880" y="7305040"/>
                  </a:lnTo>
                  <a:cubicBezTo>
                    <a:pt x="25400" y="7305040"/>
                    <a:pt x="0" y="7279640"/>
                    <a:pt x="0" y="7249160"/>
                  </a:cubicBezTo>
                  <a:lnTo>
                    <a:pt x="0" y="55880"/>
                  </a:lnTo>
                  <a:cubicBezTo>
                    <a:pt x="0" y="25400"/>
                    <a:pt x="25400" y="0"/>
                    <a:pt x="55880" y="0"/>
                  </a:cubicBezTo>
                  <a:lnTo>
                    <a:pt x="5339080" y="0"/>
                  </a:lnTo>
                  <a:cubicBezTo>
                    <a:pt x="5369560" y="0"/>
                    <a:pt x="5394960" y="25400"/>
                    <a:pt x="5394960" y="55880"/>
                  </a:cubicBezTo>
                  <a:lnTo>
                    <a:pt x="5394960" y="7249160"/>
                  </a:lnTo>
                  <a:close/>
                </a:path>
              </a:pathLst>
            </a:custGeom>
            <a:blipFill>
              <a:blip r:embed="rId3"/>
              <a:stretch>
                <a:fillRect l="-710428" t="-8466" r="-710428" b="-329241"/>
              </a:stretch>
            </a:blip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477520" y="8428989"/>
              <a:ext cx="5394960" cy="7305041"/>
            </a:xfrm>
            <a:custGeom>
              <a:avLst/>
              <a:gdLst/>
              <a:ahLst/>
              <a:cxnLst/>
              <a:rect r="r" b="b" t="t" l="l"/>
              <a:pathLst>
                <a:path h="7305041" w="5394960">
                  <a:moveTo>
                    <a:pt x="5394960" y="7249161"/>
                  </a:moveTo>
                  <a:cubicBezTo>
                    <a:pt x="5394960" y="7279641"/>
                    <a:pt x="5369560" y="7305041"/>
                    <a:pt x="5339080" y="7305041"/>
                  </a:cubicBezTo>
                  <a:lnTo>
                    <a:pt x="55880" y="7305041"/>
                  </a:lnTo>
                  <a:cubicBezTo>
                    <a:pt x="25400" y="7305041"/>
                    <a:pt x="0" y="7279641"/>
                    <a:pt x="0" y="7249161"/>
                  </a:cubicBezTo>
                  <a:lnTo>
                    <a:pt x="0" y="55881"/>
                  </a:lnTo>
                  <a:cubicBezTo>
                    <a:pt x="0" y="25400"/>
                    <a:pt x="25400" y="0"/>
                    <a:pt x="55880" y="0"/>
                  </a:cubicBezTo>
                  <a:lnTo>
                    <a:pt x="5339080" y="0"/>
                  </a:lnTo>
                  <a:cubicBezTo>
                    <a:pt x="5369560" y="0"/>
                    <a:pt x="5394960" y="25400"/>
                    <a:pt x="5394960" y="55881"/>
                  </a:cubicBezTo>
                  <a:lnTo>
                    <a:pt x="5394960" y="7249161"/>
                  </a:lnTo>
                  <a:close/>
                </a:path>
              </a:pathLst>
            </a:custGeom>
            <a:blipFill>
              <a:blip r:embed="rId6"/>
              <a:stretch>
                <a:fillRect l="-54965" t="0" r="-54965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5087600" cy="1097280"/>
            <a:chOff x="0" y="0"/>
            <a:chExt cx="201168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 grafo con más de un camino entre nodos críticos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743200"/>
            <a:ext cx="5280660" cy="4389120"/>
            <a:chOff x="0" y="0"/>
            <a:chExt cx="7040880" cy="5852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0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5632704"/>
                  </a:lnTo>
                  <a:cubicBezTo>
                    <a:pt x="7040880" y="5753862"/>
                    <a:pt x="6942582" y="5852160"/>
                    <a:pt x="6821424" y="5852160"/>
                  </a:cubicBezTo>
                  <a:lnTo>
                    <a:pt x="219456" y="5852160"/>
                  </a:lnTo>
                  <a:cubicBezTo>
                    <a:pt x="98298" y="5852160"/>
                    <a:pt x="0" y="5753862"/>
                    <a:pt x="0" y="563270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322326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3A2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3020" y="4251960"/>
            <a:ext cx="4389120" cy="685800"/>
            <a:chOff x="0" y="0"/>
            <a:chExt cx="585216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8521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Despegue / base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3020" y="5006340"/>
            <a:ext cx="4389120" cy="1920240"/>
            <a:chOff x="0" y="0"/>
            <a:chExt cx="5852160" cy="2560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5852160" cy="2655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Puntos fijos donde la flota despega, aterriza y se recarga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15100" y="2743200"/>
            <a:ext cx="5280660" cy="4389120"/>
            <a:chOff x="0" y="0"/>
            <a:chExt cx="7040880" cy="5852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0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5632704"/>
                  </a:lnTo>
                  <a:cubicBezTo>
                    <a:pt x="7040880" y="5753862"/>
                    <a:pt x="6942582" y="5852160"/>
                    <a:pt x="6821424" y="5852160"/>
                  </a:cubicBezTo>
                  <a:lnTo>
                    <a:pt x="219456" y="5852160"/>
                  </a:lnTo>
                  <a:cubicBezTo>
                    <a:pt x="98298" y="5852160"/>
                    <a:pt x="0" y="5753862"/>
                    <a:pt x="0" y="563270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995160" y="3223260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995160" y="4251960"/>
            <a:ext cx="4389120" cy="685800"/>
            <a:chOff x="0" y="0"/>
            <a:chExt cx="585216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8521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Relevo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95160" y="5006340"/>
            <a:ext cx="4389120" cy="1920240"/>
            <a:chOff x="0" y="0"/>
            <a:chExt cx="5852160" cy="2560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5852160" cy="2655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Extiende el alcance más allá de la autonomía de un único dron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07240" y="2743200"/>
            <a:ext cx="5280660" cy="4389120"/>
            <a:chOff x="0" y="0"/>
            <a:chExt cx="7040880" cy="5852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0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5632704"/>
                  </a:lnTo>
                  <a:cubicBezTo>
                    <a:pt x="7040880" y="5753862"/>
                    <a:pt x="6942582" y="5852160"/>
                    <a:pt x="6821424" y="5852160"/>
                  </a:cubicBezTo>
                  <a:lnTo>
                    <a:pt x="219456" y="5852160"/>
                  </a:lnTo>
                  <a:cubicBezTo>
                    <a:pt x="98298" y="5852160"/>
                    <a:pt x="0" y="5753862"/>
                    <a:pt x="0" y="563270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687300" y="3223260"/>
            <a:ext cx="754380" cy="754380"/>
            <a:chOff x="0" y="0"/>
            <a:chExt cx="10058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C6B6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687300" y="4251960"/>
            <a:ext cx="4389120" cy="685800"/>
            <a:chOff x="0" y="0"/>
            <a:chExt cx="585216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8521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Vigilancia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87300" y="5006340"/>
            <a:ext cx="4389120" cy="1920240"/>
            <a:chOff x="0" y="0"/>
            <a:chExt cx="5852160" cy="2560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5852160" cy="2655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Puntos de riesgo priorizados según el mapa de incendio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7543800"/>
            <a:ext cx="16459200" cy="822960"/>
            <a:chOff x="0" y="0"/>
            <a:chExt cx="2194560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5C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Condición de k-conectividad: al menos dos caminos disjuntos entre cada nodo de vigilancia crítico y su base asociada.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de Drones para Detección y Vigilancia de Incendios Forestales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5800" y="558165"/>
            <a:ext cx="11192862" cy="480060"/>
            <a:chOff x="0" y="0"/>
            <a:chExt cx="14923816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923816" cy="640080"/>
            </a:xfrm>
            <a:custGeom>
              <a:avLst/>
              <a:gdLst/>
              <a:ahLst/>
              <a:cxnLst/>
              <a:rect r="r" b="b" t="t" l="l"/>
              <a:pathLst>
                <a:path h="640080" w="14923816">
                  <a:moveTo>
                    <a:pt x="0" y="0"/>
                  </a:moveTo>
                  <a:lnTo>
                    <a:pt x="14923816" y="0"/>
                  </a:lnTo>
                  <a:lnTo>
                    <a:pt x="149238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-10288" b="-4510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492381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INFRAESTRUCTURA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5087600" cy="1097280"/>
            <a:chOff x="0" y="0"/>
            <a:chExt cx="201168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Seis fuentes públicas chilenas alimentan la red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606040"/>
            <a:ext cx="8023860" cy="1851660"/>
            <a:chOff x="0" y="0"/>
            <a:chExt cx="10698480" cy="2468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2249424"/>
                  </a:lnTo>
                  <a:cubicBezTo>
                    <a:pt x="10698480" y="2370582"/>
                    <a:pt x="10600182" y="2468880"/>
                    <a:pt x="104790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770632"/>
            <a:ext cx="7269480" cy="548640"/>
            <a:chOff x="0" y="0"/>
            <a:chExt cx="96926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OSM (Geofabrik)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3360420"/>
            <a:ext cx="7269480" cy="480060"/>
            <a:chOff x="0" y="0"/>
            <a:chExt cx="969264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Edificios, vialidad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840480"/>
            <a:ext cx="7269480" cy="480060"/>
            <a:chOff x="0" y="0"/>
            <a:chExt cx="969264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C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Descarga extracto regional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58300" y="2606040"/>
            <a:ext cx="8023860" cy="1851660"/>
            <a:chOff x="0" y="0"/>
            <a:chExt cx="10698480" cy="2468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2249424"/>
                  </a:lnTo>
                  <a:cubicBezTo>
                    <a:pt x="10698480" y="2370582"/>
                    <a:pt x="10600182" y="2468880"/>
                    <a:pt x="104790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69780" y="2770632"/>
            <a:ext cx="7269480" cy="548640"/>
            <a:chOff x="0" y="0"/>
            <a:chExt cx="9692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IGM/MOP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69780" y="3360420"/>
            <a:ext cx="7269480" cy="480060"/>
            <a:chOff x="0" y="0"/>
            <a:chExt cx="969264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Elevación, pendiente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69780" y="3840480"/>
            <a:ext cx="7269480" cy="480060"/>
            <a:chOff x="0" y="0"/>
            <a:chExt cx="969264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C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Servicio ArcGIS REST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4732020"/>
            <a:ext cx="8023860" cy="1851660"/>
            <a:chOff x="0" y="0"/>
            <a:chExt cx="10698480" cy="2468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9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2249424"/>
                  </a:lnTo>
                  <a:cubicBezTo>
                    <a:pt x="10698480" y="2370582"/>
                    <a:pt x="10600182" y="2468880"/>
                    <a:pt x="104790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4440" y="4896612"/>
            <a:ext cx="7269480" cy="548640"/>
            <a:chOff x="0" y="0"/>
            <a:chExt cx="969264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DMC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4440" y="5486400"/>
            <a:ext cx="7269480" cy="480060"/>
            <a:chOff x="0" y="0"/>
            <a:chExt cx="969264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Temperatura, viento, humedad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5966460"/>
            <a:ext cx="7269480" cy="480060"/>
            <a:chOff x="0" y="0"/>
            <a:chExt cx="969264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C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Consulta programática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58300" y="4732020"/>
            <a:ext cx="8023860" cy="1851660"/>
            <a:chOff x="0" y="0"/>
            <a:chExt cx="10698480" cy="24688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9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2249424"/>
                  </a:lnTo>
                  <a:cubicBezTo>
                    <a:pt x="10698480" y="2370582"/>
                    <a:pt x="10600182" y="2468880"/>
                    <a:pt x="104790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69780" y="4896612"/>
            <a:ext cx="7269480" cy="548640"/>
            <a:chOff x="0" y="0"/>
            <a:chExt cx="969264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CONAF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69780" y="5486400"/>
            <a:ext cx="7269480" cy="480060"/>
            <a:chOff x="0" y="0"/>
            <a:chExt cx="969264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Vegetación, riesgo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69780" y="5966460"/>
            <a:ext cx="7269480" cy="480060"/>
            <a:chOff x="0" y="0"/>
            <a:chExt cx="969264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C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Descarga catastro vegetacional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6858000"/>
            <a:ext cx="8023860" cy="1851660"/>
            <a:chOff x="0" y="0"/>
            <a:chExt cx="10698480" cy="2468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9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2249424"/>
                  </a:lnTo>
                  <a:cubicBezTo>
                    <a:pt x="10698480" y="2370582"/>
                    <a:pt x="10600182" y="2468880"/>
                    <a:pt x="104790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34440" y="7022592"/>
            <a:ext cx="7269480" cy="548640"/>
            <a:chOff x="0" y="0"/>
            <a:chExt cx="969264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FIRMS (NASA)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4440" y="7612380"/>
            <a:ext cx="7269480" cy="480060"/>
            <a:chOff x="0" y="0"/>
            <a:chExt cx="969264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Focos activos casi en tiempo real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4440" y="8092440"/>
            <a:ext cx="7269480" cy="480060"/>
            <a:chOff x="0" y="0"/>
            <a:chExt cx="969264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C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API con bounding box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58300" y="6858000"/>
            <a:ext cx="8023860" cy="1851660"/>
            <a:chOff x="0" y="0"/>
            <a:chExt cx="10698480" cy="24688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9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2249424"/>
                  </a:lnTo>
                  <a:cubicBezTo>
                    <a:pt x="10698480" y="2370582"/>
                    <a:pt x="10600182" y="2468880"/>
                    <a:pt x="104790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69780" y="7022592"/>
            <a:ext cx="7269480" cy="548640"/>
            <a:chOff x="0" y="0"/>
            <a:chExt cx="969264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MBN / Geoportal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69780" y="7612380"/>
            <a:ext cx="7269480" cy="480060"/>
            <a:chOff x="0" y="0"/>
            <a:chExt cx="969264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Zonas protegidas y restricciones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69780" y="8092440"/>
            <a:ext cx="7269480" cy="480060"/>
            <a:chOff x="0" y="0"/>
            <a:chExt cx="9692640" cy="640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C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Consulta WMS/WFS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de Drones para Detección y Vigilancia de Incendios Forestales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85800" y="558165"/>
            <a:ext cx="11192862" cy="480060"/>
            <a:chOff x="0" y="0"/>
            <a:chExt cx="14923816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923816" cy="640080"/>
            </a:xfrm>
            <a:custGeom>
              <a:avLst/>
              <a:gdLst/>
              <a:ahLst/>
              <a:cxnLst/>
              <a:rect r="r" b="b" t="t" l="l"/>
              <a:pathLst>
                <a:path h="640080" w="14923816">
                  <a:moveTo>
                    <a:pt x="0" y="0"/>
                  </a:moveTo>
                  <a:lnTo>
                    <a:pt x="14923816" y="0"/>
                  </a:lnTo>
                  <a:lnTo>
                    <a:pt x="149238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-10288" b="-45104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492381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FUENTES DE DATOS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5087600" cy="1097280"/>
            <a:chOff x="0" y="0"/>
            <a:chExt cx="201168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Consultas reales realizadas sobre cada fuente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596515"/>
            <a:ext cx="5299710" cy="3173730"/>
            <a:chOff x="0" y="0"/>
            <a:chExt cx="7066280" cy="4231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blipFill>
              <a:blip r:embed="rId4"/>
              <a:stretch>
                <a:fillRect l="0" t="-12368" r="0" b="-12368"/>
              </a:stretch>
            </a:blipFill>
            <a:ln w="19050" cap="sq">
              <a:solidFill>
                <a:srgbClr val="C9D6CC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4732020"/>
            <a:ext cx="5280660" cy="891540"/>
            <a:chOff x="0" y="0"/>
            <a:chExt cx="7040880" cy="1188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40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70408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IGM/MOP</a:t>
              </a:r>
            </a:p>
            <a:p>
              <a:pPr algn="ctr">
                <a:lnSpc>
                  <a:spcPts val="269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(JSON de capas)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05575" y="2596515"/>
            <a:ext cx="5299710" cy="3173730"/>
            <a:chOff x="0" y="0"/>
            <a:chExt cx="7066280" cy="4231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blipFill>
              <a:blip r:embed="rId5"/>
              <a:stretch>
                <a:fillRect l="0" t="-2444" r="0" b="-2444"/>
              </a:stretch>
            </a:blipFill>
            <a:ln w="19050" cap="sq">
              <a:solidFill>
                <a:srgbClr val="C9D6CC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515100" y="4732020"/>
            <a:ext cx="5280660" cy="891540"/>
            <a:chOff x="0" y="0"/>
            <a:chExt cx="7040880" cy="1188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40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0408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sz="1950" b="true">
                  <a:solidFill>
                    <a:srgbClr val="1B3A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OSM/Geofabrik</a:t>
              </a:r>
            </a:p>
            <a:p>
              <a:pPr algn="ctr">
                <a:lnSpc>
                  <a:spcPts val="2690"/>
                </a:lnSpc>
              </a:pPr>
              <a:r>
                <a:rPr lang="en-US" sz="1950" b="true">
                  <a:solidFill>
                    <a:srgbClr val="1B3A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(archivo descargado)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97715" y="2596515"/>
            <a:ext cx="5299710" cy="3173730"/>
            <a:chOff x="0" y="0"/>
            <a:chExt cx="7066280" cy="4231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blipFill>
              <a:blip r:embed="rId6"/>
              <a:stretch>
                <a:fillRect l="0" t="-26492" r="0" b="-26492"/>
              </a:stretch>
            </a:blipFill>
            <a:ln w="19050" cap="sq">
              <a:solidFill>
                <a:srgbClr val="C9D6CC"/>
              </a:solidFill>
              <a:prstDash val="dash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216765" y="4878705"/>
            <a:ext cx="5280660" cy="891540"/>
            <a:chOff x="0" y="0"/>
            <a:chExt cx="704088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0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70408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sz="1950" b="true">
                  <a:solidFill>
                    <a:srgbClr val="1B3A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CONAF</a:t>
              </a:r>
            </a:p>
            <a:p>
              <a:pPr algn="ctr">
                <a:lnSpc>
                  <a:spcPts val="2690"/>
                </a:lnSpc>
              </a:pPr>
              <a:r>
                <a:rPr lang="en-US" sz="1950" b="true">
                  <a:solidFill>
                    <a:srgbClr val="1B3A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(catastro)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6094095"/>
            <a:ext cx="5299710" cy="3173730"/>
            <a:chOff x="0" y="0"/>
            <a:chExt cx="7066280" cy="4231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blipFill>
              <a:blip r:embed="rId7"/>
              <a:stretch>
                <a:fillRect l="0" t="0" r="-7319" b="-102261"/>
              </a:stretch>
            </a:blipFill>
            <a:ln w="19050" cap="sq">
              <a:solidFill>
                <a:srgbClr val="C9D6CC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8229600"/>
            <a:ext cx="5280660" cy="891540"/>
            <a:chOff x="0" y="0"/>
            <a:chExt cx="704088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0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70408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DMC</a:t>
              </a:r>
            </a:p>
            <a:p>
              <a:pPr algn="ctr">
                <a:lnSpc>
                  <a:spcPts val="269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(datos estación)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05575" y="6094095"/>
            <a:ext cx="5299710" cy="3173730"/>
            <a:chOff x="0" y="0"/>
            <a:chExt cx="7066280" cy="4231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blipFill>
              <a:blip r:embed="rId8"/>
              <a:stretch>
                <a:fillRect l="-14392" t="0" r="-14392" b="0"/>
              </a:stretch>
            </a:blipFill>
            <a:ln w="19050" cap="sq">
              <a:solidFill>
                <a:srgbClr val="C9D6CC"/>
              </a:solidFill>
              <a:prstDash val="dash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515100" y="8229600"/>
            <a:ext cx="5280660" cy="891540"/>
            <a:chOff x="0" y="0"/>
            <a:chExt cx="704088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0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70408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sz="1950" b="true">
                  <a:solidFill>
                    <a:srgbClr val="FAFA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FIRMS</a:t>
              </a:r>
            </a:p>
            <a:p>
              <a:pPr algn="ctr">
                <a:lnSpc>
                  <a:spcPts val="2690"/>
                </a:lnSpc>
              </a:pPr>
              <a:r>
                <a:rPr lang="en-US" sz="1950" b="true">
                  <a:solidFill>
                    <a:srgbClr val="FAFA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(CSV de focos)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197715" y="6094095"/>
            <a:ext cx="5299710" cy="3173730"/>
            <a:chOff x="0" y="0"/>
            <a:chExt cx="7066280" cy="4231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662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6628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6882257" y="0"/>
                  </a:lnTo>
                  <a:cubicBezTo>
                    <a:pt x="6983857" y="0"/>
                    <a:pt x="7066280" y="82423"/>
                    <a:pt x="7066280" y="184023"/>
                  </a:cubicBezTo>
                  <a:lnTo>
                    <a:pt x="7066280" y="4047617"/>
                  </a:lnTo>
                  <a:cubicBezTo>
                    <a:pt x="7066280" y="4149217"/>
                    <a:pt x="6983857" y="4231640"/>
                    <a:pt x="6882257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blipFill>
              <a:blip r:embed="rId9"/>
              <a:stretch>
                <a:fillRect l="0" t="-3767" r="0" b="-3767"/>
              </a:stretch>
            </a:blipFill>
            <a:ln w="19050" cap="sq">
              <a:solidFill>
                <a:srgbClr val="C9D6CC"/>
              </a:solidFill>
              <a:prstDash val="dash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207240" y="8229600"/>
            <a:ext cx="5280660" cy="891540"/>
            <a:chOff x="0" y="0"/>
            <a:chExt cx="704088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40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704088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MBN/Geoportal</a:t>
              </a:r>
            </a:p>
            <a:p>
              <a:pPr algn="ctr">
                <a:lnSpc>
                  <a:spcPts val="269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(capa protegida)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de Drones para Detección y Vigilancia de Incendios Forestales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" y="558165"/>
            <a:ext cx="11192862" cy="480060"/>
            <a:chOff x="0" y="0"/>
            <a:chExt cx="14923816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923816" cy="640080"/>
            </a:xfrm>
            <a:custGeom>
              <a:avLst/>
              <a:gdLst/>
              <a:ahLst/>
              <a:cxnLst/>
              <a:rect r="r" b="b" t="t" l="l"/>
              <a:pathLst>
                <a:path h="640080" w="14923816">
                  <a:moveTo>
                    <a:pt x="0" y="0"/>
                  </a:moveTo>
                  <a:lnTo>
                    <a:pt x="14923816" y="0"/>
                  </a:lnTo>
                  <a:lnTo>
                    <a:pt x="149238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-10288" b="-45104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492381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EVIDENCIA DE FACTIBILIDAD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5087600" cy="1097280"/>
            <a:chOff x="0" y="0"/>
            <a:chExt cx="201168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Estática vs. dinámica: la clave de la resiliencia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606040"/>
            <a:ext cx="7955280" cy="3566160"/>
            <a:chOff x="0" y="0"/>
            <a:chExt cx="10607040" cy="4754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0607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387584" y="0"/>
                  </a:lnTo>
                  <a:cubicBezTo>
                    <a:pt x="10508742" y="0"/>
                    <a:pt x="10607040" y="98298"/>
                    <a:pt x="10607040" y="219456"/>
                  </a:cubicBezTo>
                  <a:lnTo>
                    <a:pt x="10607040" y="4535424"/>
                  </a:lnTo>
                  <a:cubicBezTo>
                    <a:pt x="10607040" y="4656582"/>
                    <a:pt x="10508742" y="4754880"/>
                    <a:pt x="1038758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BF1E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2948940"/>
            <a:ext cx="6858000" cy="480060"/>
            <a:chOff x="0" y="0"/>
            <a:chExt cx="9144000" cy="640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3A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ESTÁTICA (baja frecuencia)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3566160"/>
            <a:ext cx="6858000" cy="2331720"/>
            <a:chOff x="0" y="0"/>
            <a:chExt cx="9144000" cy="310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9144000" cy="3223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0"/>
                </a:lnSpc>
              </a:pPr>
              <a:r>
                <a:rPr lang="en-US" sz="2025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Elevación y pendiente (IGM) · Vegetación (CONAF, anual) · Edificaciones (OSM) · Zonas protegidas (MBN)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89720" y="2606040"/>
            <a:ext cx="8229600" cy="3566160"/>
            <a:chOff x="0" y="0"/>
            <a:chExt cx="10972800" cy="4754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09728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753344" y="0"/>
                  </a:lnTo>
                  <a:cubicBezTo>
                    <a:pt x="10874502" y="0"/>
                    <a:pt x="10972800" y="98298"/>
                    <a:pt x="10972800" y="219456"/>
                  </a:cubicBezTo>
                  <a:lnTo>
                    <a:pt x="10972800" y="4535424"/>
                  </a:lnTo>
                  <a:cubicBezTo>
                    <a:pt x="10972800" y="4656582"/>
                    <a:pt x="10874502" y="4754880"/>
                    <a:pt x="1075334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1B3A2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738360" y="2948940"/>
            <a:ext cx="7269480" cy="480060"/>
            <a:chOff x="0" y="0"/>
            <a:chExt cx="969264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C81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DINÁMICA (casi tiempo real)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8360" y="3566160"/>
            <a:ext cx="7269480" cy="2331720"/>
            <a:chOff x="0" y="0"/>
            <a:chExt cx="9692640" cy="3108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9692640" cy="3223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0"/>
                </a:lnSpc>
              </a:pPr>
              <a:r>
                <a:rPr lang="en-US" sz="2025">
                  <a:solidFill>
                    <a:srgbClr val="D8E5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Viento, temperatura, humedad (DMC, horaria) · Focos activos (FIRMS, cada 3–12h)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6583680"/>
            <a:ext cx="6858000" cy="548640"/>
            <a:chOff x="0" y="0"/>
            <a:chExt cx="91440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3A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Función de costo por arista: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7200900"/>
            <a:ext cx="15773400" cy="960120"/>
            <a:chOff x="0" y="0"/>
            <a:chExt cx="2103120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 i="true">
                  <a:solidFill>
                    <a:srgbClr val="1F2A24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cᵢⱼ = (w₁dᵢⱼ + w₂pᵢⱼ + w₃rᵢⱼ) × (1 + πᵢⱼ(t))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8161020"/>
            <a:ext cx="16184880" cy="822960"/>
            <a:chOff x="0" y="0"/>
            <a:chExt cx="2157984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798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579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5C6B6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Costo base (estático) × penalización dinámica — si π→∞ (foco activo dentro del radio de exclusión), la arista se remueve del grafo.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de Drones para Detección y Vigilancia de Incendios Forestales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5800" y="558165"/>
            <a:ext cx="11192862" cy="480060"/>
            <a:chOff x="0" y="0"/>
            <a:chExt cx="14923816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923816" cy="640080"/>
            </a:xfrm>
            <a:custGeom>
              <a:avLst/>
              <a:gdLst/>
              <a:ahLst/>
              <a:cxnLst/>
              <a:rect r="r" b="b" t="t" l="l"/>
              <a:pathLst>
                <a:path h="640080" w="14923816">
                  <a:moveTo>
                    <a:pt x="0" y="0"/>
                  </a:moveTo>
                  <a:lnTo>
                    <a:pt x="14923816" y="0"/>
                  </a:lnTo>
                  <a:lnTo>
                    <a:pt x="149238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-10288" b="-45104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492381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METADATA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5087600" cy="1234440"/>
            <a:chOff x="0" y="0"/>
            <a:chExt cx="201168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Cuatro categorías que pueden inhabilitar la red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880360"/>
            <a:ext cx="8023860" cy="2537460"/>
            <a:chOff x="0" y="0"/>
            <a:chExt cx="10698480" cy="3383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4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3163824"/>
                  </a:lnTo>
                  <a:cubicBezTo>
                    <a:pt x="10698480" y="3284982"/>
                    <a:pt x="10600182" y="3383280"/>
                    <a:pt x="1047902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3154680"/>
            <a:ext cx="7132320" cy="548640"/>
            <a:chOff x="0" y="0"/>
            <a:chExt cx="950976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097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Ambientales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3020" y="3813048"/>
            <a:ext cx="7132320" cy="1371600"/>
            <a:chOff x="0" y="0"/>
            <a:chExt cx="950976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9509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D8E5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Viento/temperatura extrema, niebla o baja visibilidad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58300" y="2880360"/>
            <a:ext cx="8023860" cy="2537460"/>
            <a:chOff x="0" y="0"/>
            <a:chExt cx="10698480" cy="3383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984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3163824"/>
                  </a:lnTo>
                  <a:cubicBezTo>
                    <a:pt x="10698480" y="3284982"/>
                    <a:pt x="10600182" y="3383280"/>
                    <a:pt x="1047902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738360" y="3154680"/>
            <a:ext cx="7132320" cy="548640"/>
            <a:chOff x="0" y="0"/>
            <a:chExt cx="95097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5097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Operacionales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8360" y="3813048"/>
            <a:ext cx="7132320" cy="1371600"/>
            <a:chOff x="0" y="0"/>
            <a:chExt cx="950976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9509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D8E5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Incendio activo bloqueando un tramo, obstáculos no mapeados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5760720"/>
            <a:ext cx="8023860" cy="2537460"/>
            <a:chOff x="0" y="0"/>
            <a:chExt cx="10698480" cy="3383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984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3163824"/>
                  </a:lnTo>
                  <a:cubicBezTo>
                    <a:pt x="10698480" y="3284982"/>
                    <a:pt x="10600182" y="3383280"/>
                    <a:pt x="1047902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6035040"/>
            <a:ext cx="7132320" cy="548640"/>
            <a:chOff x="0" y="0"/>
            <a:chExt cx="95097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5097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Regulatorias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3020" y="6693408"/>
            <a:ext cx="7132320" cy="1371600"/>
            <a:chOff x="0" y="0"/>
            <a:chExt cx="950976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9509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D8E5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Restricciones de espacio aéreo, zonas protegidas (MBN)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58300" y="5760720"/>
            <a:ext cx="8023860" cy="2537460"/>
            <a:chOff x="0" y="0"/>
            <a:chExt cx="10698480" cy="3383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3163824"/>
                  </a:lnTo>
                  <a:cubicBezTo>
                    <a:pt x="10698480" y="3284982"/>
                    <a:pt x="10600182" y="3383280"/>
                    <a:pt x="1047902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738360" y="6035040"/>
            <a:ext cx="7132320" cy="548640"/>
            <a:chOff x="0" y="0"/>
            <a:chExt cx="95097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5097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C810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infraestructura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38360" y="6693408"/>
            <a:ext cx="7132320" cy="1371600"/>
            <a:chOff x="0" y="0"/>
            <a:chExt cx="9509760" cy="1828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9509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D8E5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Falla de nodo de relevo/recarga, pérdida de comunicación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558165"/>
            <a:ext cx="11192862" cy="480060"/>
            <a:chOff x="0" y="0"/>
            <a:chExt cx="14923816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923816" cy="640080"/>
            </a:xfrm>
            <a:custGeom>
              <a:avLst/>
              <a:gdLst/>
              <a:ahLst/>
              <a:cxnLst/>
              <a:rect r="r" b="b" t="t" l="l"/>
              <a:pathLst>
                <a:path h="640080" w="14923816">
                  <a:moveTo>
                    <a:pt x="0" y="0"/>
                  </a:moveTo>
                  <a:lnTo>
                    <a:pt x="14923816" y="0"/>
                  </a:lnTo>
                  <a:lnTo>
                    <a:pt x="149238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-10288" b="-45104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492381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AMENAZAS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165860"/>
            <a:ext cx="15087600" cy="1097280"/>
            <a:chOff x="0" y="0"/>
            <a:chExt cx="201168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B3A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Bases sentadas; sigue la implementación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948940"/>
            <a:ext cx="548640" cy="548640"/>
            <a:chOff x="0" y="0"/>
            <a:chExt cx="7315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B3A2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948940"/>
            <a:ext cx="548640" cy="548640"/>
            <a:chOff x="0" y="0"/>
            <a:chExt cx="7315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45920" y="2880360"/>
            <a:ext cx="15361920" cy="822960"/>
            <a:chOff x="0" y="0"/>
            <a:chExt cx="2048256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04825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Instanciar el grafo G(V,E) sobre una zona piloto concreta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4251960"/>
            <a:ext cx="548640" cy="548640"/>
            <a:chOff x="0" y="0"/>
            <a:chExt cx="7315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4251960"/>
            <a:ext cx="548640" cy="548640"/>
            <a:chOff x="0" y="0"/>
            <a:chExt cx="731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20" y="4183380"/>
            <a:ext cx="15361920" cy="822960"/>
            <a:chOff x="0" y="0"/>
            <a:chExt cx="2048256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4825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la función de costo dinámica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5554980"/>
            <a:ext cx="548640" cy="548640"/>
            <a:chOff x="0" y="0"/>
            <a:chExt cx="731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5554980"/>
            <a:ext cx="548640" cy="548640"/>
            <a:chOff x="0" y="0"/>
            <a:chExt cx="7315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20" y="5486400"/>
            <a:ext cx="15361920" cy="822960"/>
            <a:chOff x="0" y="0"/>
            <a:chExt cx="2048256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04825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e implementar los algoritmos de ruteo resiliente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6858000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6858000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45920" y="6789420"/>
            <a:ext cx="15361920" cy="822960"/>
            <a:chOff x="0" y="0"/>
            <a:chExt cx="2048256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04825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F2A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Evaluar la propuesta vs. un esquema de ruta única, bajo fallas simuladas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de Drones para Detección y Vigilancia de Incendios Forestales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738360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5800" y="558165"/>
            <a:ext cx="11192862" cy="480060"/>
            <a:chOff x="0" y="0"/>
            <a:chExt cx="14923816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923816" cy="640080"/>
            </a:xfrm>
            <a:custGeom>
              <a:avLst/>
              <a:gdLst/>
              <a:ahLst/>
              <a:cxnLst/>
              <a:rect r="r" b="b" t="t" l="l"/>
              <a:pathLst>
                <a:path h="640080" w="14923816">
                  <a:moveTo>
                    <a:pt x="0" y="0"/>
                  </a:moveTo>
                  <a:lnTo>
                    <a:pt x="14923816" y="0"/>
                  </a:lnTo>
                  <a:lnTo>
                    <a:pt x="149238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-10288" b="-45104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4923816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38">
                  <a:solidFill>
                    <a:srgbClr val="1F2A2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CONCLUSIÓN Y PRÓXIMOS PASOS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01800" y="-1783080"/>
            <a:ext cx="6309360" cy="6309360"/>
            <a:chOff x="0" y="0"/>
            <a:chExt cx="8412480" cy="8412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194560" y="7680960"/>
            <a:ext cx="4526280" cy="4526280"/>
            <a:chOff x="0" y="0"/>
            <a:chExt cx="6035040" cy="6035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6035040"/>
            </a:xfrm>
            <a:custGeom>
              <a:avLst/>
              <a:gdLst/>
              <a:ahLst/>
              <a:cxnLst/>
              <a:rect r="r" b="b" t="t" l="l"/>
              <a:pathLst>
                <a:path h="6035040" w="6035040">
                  <a:moveTo>
                    <a:pt x="0" y="3017520"/>
                  </a:moveTo>
                  <a:cubicBezTo>
                    <a:pt x="0" y="1351026"/>
                    <a:pt x="1351026" y="0"/>
                    <a:pt x="3017520" y="0"/>
                  </a:cubicBezTo>
                  <a:cubicBezTo>
                    <a:pt x="4684014" y="0"/>
                    <a:pt x="6035040" y="1351026"/>
                    <a:pt x="6035040" y="3017520"/>
                  </a:cubicBezTo>
                  <a:cubicBezTo>
                    <a:pt x="6035040" y="4684014"/>
                    <a:pt x="4684014" y="6035040"/>
                    <a:pt x="3017520" y="6035040"/>
                  </a:cubicBezTo>
                  <a:cubicBezTo>
                    <a:pt x="1351026" y="6035040"/>
                    <a:pt x="0" y="4684014"/>
                    <a:pt x="0" y="3017520"/>
                  </a:cubicBezTo>
                  <a:close/>
                </a:path>
              </a:pathLst>
            </a:custGeom>
            <a:solidFill>
              <a:srgbClr val="12271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0" y="2106502"/>
            <a:ext cx="10972800" cy="4839556"/>
            <a:chOff x="0" y="0"/>
            <a:chExt cx="14630400" cy="64527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52741"/>
            </a:xfrm>
            <a:custGeom>
              <a:avLst/>
              <a:gdLst/>
              <a:ahLst/>
              <a:cxnLst/>
              <a:rect r="r" b="b" t="t" l="l"/>
              <a:pathLst>
                <a:path h="6452741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52741"/>
                  </a:lnTo>
                  <a:lnTo>
                    <a:pt x="0" y="6452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73" r="0" b="388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630400" cy="6471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Preguntas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7606664" y="5072057"/>
            <a:ext cx="3074672" cy="57158"/>
          </a:xfrm>
          <a:prstGeom prst="line">
            <a:avLst/>
          </a:prstGeom>
          <a:ln cap="rnd" w="28575">
            <a:solidFill>
              <a:srgbClr val="C81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028700"/>
            <a:ext cx="3549421" cy="1151051"/>
          </a:xfrm>
          <a:custGeom>
            <a:avLst/>
            <a:gdLst/>
            <a:ahLst/>
            <a:cxnLst/>
            <a:rect r="r" b="b" t="t" l="l"/>
            <a:pathLst>
              <a:path h="1151051" w="3549421">
                <a:moveTo>
                  <a:pt x="0" y="0"/>
                </a:moveTo>
                <a:lnTo>
                  <a:pt x="3549421" y="0"/>
                </a:lnTo>
                <a:lnTo>
                  <a:pt x="3549421" y="1151051"/>
                </a:lnTo>
                <a:lnTo>
                  <a:pt x="0" y="1151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36" t="0" r="-1232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DAHUMuXwiNQ</dc:identifier>
  <dcterms:modified xsi:type="dcterms:W3CDTF">2011-08-01T06:04:30Z</dcterms:modified>
  <cp:revision>1</cp:revision>
  <dc:title>Red_Drones_Incendios_Forestales.pptx</dc:title>
</cp:coreProperties>
</file>